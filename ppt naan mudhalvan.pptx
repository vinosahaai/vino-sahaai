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1485-2E66-FE74-455C-24397AA2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911" y="-1403771"/>
            <a:ext cx="8485466" cy="4366822"/>
          </a:xfrm>
        </p:spPr>
        <p:txBody>
          <a:bodyPr/>
          <a:lstStyle/>
          <a:p>
            <a:r>
              <a:rPr lang="en-IN" sz="3200" dirty="0"/>
              <a:t>Energy Consumption Prediction in a </a:t>
            </a:r>
            <a:r>
              <a:rPr lang="en-IN" sz="3200" dirty="0" err="1"/>
              <a:t>cnc</a:t>
            </a:r>
            <a:r>
              <a:rPr lang="en-IN" sz="3200" dirty="0"/>
              <a:t> machine (regression)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9F595-80A0-FB22-5B85-D94E03E81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7374" y="4576225"/>
            <a:ext cx="6831673" cy="1086237"/>
          </a:xfrm>
        </p:spPr>
        <p:txBody>
          <a:bodyPr>
            <a:noAutofit/>
          </a:bodyPr>
          <a:lstStyle/>
          <a:p>
            <a:pPr algn="l"/>
            <a:r>
              <a:rPr lang="en-IN" sz="1800" dirty="0"/>
              <a:t>By-</a:t>
            </a:r>
          </a:p>
          <a:p>
            <a:pPr algn="l"/>
            <a:r>
              <a:rPr lang="en-IN" sz="1800" dirty="0"/>
              <a:t>   </a:t>
            </a:r>
            <a:r>
              <a:rPr lang="en-IN" sz="1800" dirty="0" err="1"/>
              <a:t>Muthukumaran</a:t>
            </a:r>
            <a:r>
              <a:rPr lang="en-IN" sz="1800" dirty="0"/>
              <a:t> </a:t>
            </a:r>
          </a:p>
          <a:p>
            <a:pPr algn="l"/>
            <a:r>
              <a:rPr lang="en-IN" sz="1800" dirty="0"/>
              <a:t>   </a:t>
            </a:r>
            <a:r>
              <a:rPr lang="en-IN" sz="1800" dirty="0" err="1"/>
              <a:t>Akeela</a:t>
            </a:r>
            <a:endParaRPr lang="en-IN" sz="1800" dirty="0"/>
          </a:p>
          <a:p>
            <a:pPr algn="l"/>
            <a:r>
              <a:rPr lang="en-IN" sz="1800" dirty="0"/>
              <a:t>   Pugazhendhi</a:t>
            </a:r>
          </a:p>
          <a:p>
            <a:pPr algn="l"/>
            <a:r>
              <a:rPr lang="en-IN" sz="1800" dirty="0"/>
              <a:t>   </a:t>
            </a:r>
            <a:r>
              <a:rPr lang="en-IN" sz="1800" dirty="0" err="1"/>
              <a:t>Vinosaahai</a:t>
            </a:r>
            <a:endParaRPr lang="en-IN" sz="1800" dirty="0"/>
          </a:p>
          <a:p>
            <a:pPr algn="l"/>
            <a:r>
              <a:rPr lang="en-IN" sz="1800" dirty="0"/>
              <a:t>   </a:t>
            </a:r>
            <a:r>
              <a:rPr lang="en-IN" sz="1800" dirty="0" err="1"/>
              <a:t>Akshitha</a:t>
            </a:r>
            <a:endParaRPr lang="en-IN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A7EF9C-69B7-E40B-3532-4B2E8C82A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3267" y="-1042359"/>
            <a:ext cx="8702110" cy="5257172"/>
          </a:xfrm>
        </p:spPr>
        <p:txBody>
          <a:bodyPr/>
          <a:lstStyle/>
          <a:p>
            <a:r>
              <a:rPr lang="en-IN" sz="3200" dirty="0"/>
              <a:t>Fault </a:t>
            </a:r>
            <a:r>
              <a:rPr lang="en-IN" sz="3200" dirty="0" err="1"/>
              <a:t>deTection</a:t>
            </a:r>
            <a:r>
              <a:rPr lang="en-IN" sz="3200" dirty="0"/>
              <a:t> in Pneumatic System  (classification)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4979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A2A0-9059-18C4-D0C6-C00BED9BC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en-IN" dirty="0"/>
              <a:t>OUTPUT TO BE FOUND: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147C-D086-DE7B-4AC1-7D8F5E1BD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74371"/>
            <a:ext cx="9601200" cy="2690473"/>
          </a:xfrm>
        </p:spPr>
        <p:txBody>
          <a:bodyPr>
            <a:normAutofit/>
          </a:bodyPr>
          <a:lstStyle/>
          <a:p>
            <a:r>
              <a:rPr lang="en-IN" sz="2800" dirty="0"/>
              <a:t> Predict energy usage based on machine parameters.</a:t>
            </a:r>
          </a:p>
          <a:p>
            <a:endParaRPr lang="en-IN" sz="2800" dirty="0"/>
          </a:p>
          <a:p>
            <a:r>
              <a:rPr lang="en-IN" sz="2800" dirty="0"/>
              <a:t>Classify if pneumatic system is fault or not.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5891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71FD-3BAF-C75F-6641-E193990D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6294"/>
          </a:xfrm>
        </p:spPr>
        <p:txBody>
          <a:bodyPr/>
          <a:lstStyle/>
          <a:p>
            <a:r>
              <a:rPr lang="en-IN" dirty="0"/>
              <a:t>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FCB7A-B94B-45E9-F967-40CD4E5E0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214" y="1800226"/>
            <a:ext cx="3483767" cy="4462462"/>
          </a:xfrm>
        </p:spPr>
        <p:txBody>
          <a:bodyPr>
            <a:normAutofit/>
          </a:bodyPr>
          <a:lstStyle/>
          <a:p>
            <a:r>
              <a:rPr lang="en-IN" dirty="0"/>
              <a:t>Cutting speed</a:t>
            </a:r>
          </a:p>
          <a:p>
            <a:r>
              <a:rPr lang="en-IN" dirty="0"/>
              <a:t>Feed rate</a:t>
            </a:r>
          </a:p>
          <a:p>
            <a:r>
              <a:rPr lang="en-IN" dirty="0"/>
              <a:t>Depth of cut</a:t>
            </a:r>
          </a:p>
          <a:p>
            <a:r>
              <a:rPr lang="en-IN" dirty="0"/>
              <a:t>Spindle load</a:t>
            </a:r>
          </a:p>
          <a:p>
            <a:r>
              <a:rPr lang="en-IN" dirty="0"/>
              <a:t>Material type</a:t>
            </a:r>
          </a:p>
          <a:p>
            <a:r>
              <a:rPr lang="en-IN" dirty="0"/>
              <a:t>Operation time</a:t>
            </a:r>
          </a:p>
          <a:p>
            <a:r>
              <a:rPr lang="en-IN" dirty="0"/>
              <a:t>Coolant flow rate</a:t>
            </a:r>
          </a:p>
          <a:p>
            <a:r>
              <a:rPr lang="en-IN" dirty="0"/>
              <a:t>Ambient temperature</a:t>
            </a:r>
          </a:p>
          <a:p>
            <a:r>
              <a:rPr lang="en-IN" dirty="0"/>
              <a:t>Tool wear</a:t>
            </a:r>
          </a:p>
          <a:p>
            <a:r>
              <a:rPr lang="en-IN" dirty="0"/>
              <a:t>Machine type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2F1E73-917B-021D-6B6A-7D8DF8030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00226"/>
            <a:ext cx="4043363" cy="4462462"/>
          </a:xfrm>
        </p:spPr>
        <p:txBody>
          <a:bodyPr>
            <a:normAutofit/>
          </a:bodyPr>
          <a:lstStyle/>
          <a:p>
            <a:r>
              <a:rPr lang="en-IN" dirty="0"/>
              <a:t>Air pressure</a:t>
            </a:r>
          </a:p>
          <a:p>
            <a:r>
              <a:rPr lang="en-IN" dirty="0"/>
              <a:t>Flow rate</a:t>
            </a:r>
          </a:p>
          <a:p>
            <a:r>
              <a:rPr lang="en-IN" dirty="0"/>
              <a:t>Valve status</a:t>
            </a:r>
          </a:p>
          <a:p>
            <a:r>
              <a:rPr lang="en-IN" dirty="0"/>
              <a:t>Cylinder position</a:t>
            </a:r>
          </a:p>
          <a:p>
            <a:r>
              <a:rPr lang="en-IN" dirty="0"/>
              <a:t>Leakage rate</a:t>
            </a:r>
          </a:p>
          <a:p>
            <a:r>
              <a:rPr lang="en-IN" dirty="0"/>
              <a:t>Noise level</a:t>
            </a:r>
          </a:p>
          <a:p>
            <a:r>
              <a:rPr lang="en-IN" dirty="0"/>
              <a:t>Load pressure </a:t>
            </a:r>
          </a:p>
          <a:p>
            <a:r>
              <a:rPr lang="en-IN" dirty="0"/>
              <a:t>Cycle time</a:t>
            </a:r>
          </a:p>
          <a:p>
            <a:r>
              <a:rPr lang="en-IN" dirty="0"/>
              <a:t>Ambient temperature</a:t>
            </a:r>
          </a:p>
          <a:p>
            <a:r>
              <a:rPr lang="en-IN" dirty="0"/>
              <a:t>System vibration.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0B4361-91F8-C5CC-A076-74ECBF83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214" y="1319214"/>
            <a:ext cx="6861692" cy="481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(REGRESSION-CNC)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EB0409-1EA4-CAF3-F494-A76F1D42D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9214"/>
            <a:ext cx="6861692" cy="481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(CLASSIFICATION-Pneumatic)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062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3761-C8ED-89ED-0853-B856847A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45319"/>
            <a:ext cx="9601200" cy="1009649"/>
          </a:xfrm>
        </p:spPr>
        <p:txBody>
          <a:bodyPr/>
          <a:lstStyle/>
          <a:p>
            <a:r>
              <a:rPr lang="en-IN" dirty="0"/>
              <a:t>REGRESSION ALGORITHM: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C0F7C-DCA6-3D2A-F090-8369649C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025" y="1535906"/>
            <a:ext cx="9932194" cy="49291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Linear Regression:</a:t>
            </a:r>
            <a:r>
              <a:rPr lang="en-IN" sz="1800" dirty="0"/>
              <a:t>
Simple, interpretable, best with linearly related data.
</a:t>
            </a:r>
            <a:r>
              <a:rPr lang="en-IN" sz="1800" b="1" dirty="0"/>
              <a:t>Ridge/Lasso Regression:</a:t>
            </a:r>
            <a:r>
              <a:rPr lang="en-IN" sz="1800" dirty="0"/>
              <a:t>
Extensions of linear regression with regularization to prevent overfitting.
</a:t>
            </a:r>
            <a:r>
              <a:rPr lang="en-IN" sz="1800" b="1" dirty="0"/>
              <a:t>Decision Tree Regression:</a:t>
            </a:r>
            <a:r>
              <a:rPr lang="en-IN" sz="1800" dirty="0"/>
              <a:t>
Captures non-linear relationships well.
</a:t>
            </a:r>
            <a:r>
              <a:rPr lang="en-IN" sz="1800" b="1" dirty="0"/>
              <a:t>Random Forest Regression:</a:t>
            </a:r>
            <a:r>
              <a:rPr lang="en-IN" sz="1800" dirty="0"/>
              <a:t>
Ensemble of decision trees; good accuracy and handles complex data.
</a:t>
            </a:r>
            <a:r>
              <a:rPr lang="en-IN" sz="1800" b="1" dirty="0"/>
              <a:t>Gradient Boosting:</a:t>
            </a:r>
            <a:r>
              <a:rPr lang="en-IN" sz="1800" dirty="0"/>
              <a:t>
Very powerful for structured/tabular data.
</a:t>
            </a:r>
            <a:r>
              <a:rPr lang="en-IN" sz="1800" b="1" dirty="0"/>
              <a:t>Support Vector Regression (SVR):</a:t>
            </a:r>
          </a:p>
          <a:p>
            <a:pPr marL="0" indent="0">
              <a:buNone/>
            </a:pPr>
            <a:r>
              <a:rPr lang="en-IN" sz="1800" dirty="0"/>
              <a:t>Effective in high-dimensional spaces.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3229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B66C7-4403-7E67-2BCC-B8256A50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85800"/>
            <a:ext cx="9601200" cy="790575"/>
          </a:xfrm>
        </p:spPr>
        <p:txBody>
          <a:bodyPr/>
          <a:lstStyle/>
          <a:p>
            <a:r>
              <a:rPr lang="en-IN" dirty="0"/>
              <a:t>CLASSIFICATION ALGORITHM: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4D6A-D2C5-B421-25BB-1B5CE7B5E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595437"/>
            <a:ext cx="9601200" cy="51256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Logistic Regression:</a:t>
            </a:r>
            <a:r>
              <a:rPr lang="en-IN" sz="1800" dirty="0"/>
              <a:t>
Simple, interpretable; works well for binary classification.
</a:t>
            </a:r>
            <a:r>
              <a:rPr lang="en-IN" sz="1800" b="1" dirty="0"/>
              <a:t>K-Nearest </a:t>
            </a:r>
            <a:r>
              <a:rPr lang="en-IN" sz="1800" b="1" dirty="0" err="1"/>
              <a:t>Neighbors</a:t>
            </a:r>
            <a:r>
              <a:rPr lang="en-IN" sz="1800" b="1" dirty="0"/>
              <a:t> (KNN):</a:t>
            </a:r>
            <a:r>
              <a:rPr lang="en-IN" sz="1800" dirty="0"/>
              <a:t>
Intuitive and simple; good for smaller datasets.
</a:t>
            </a:r>
            <a:r>
              <a:rPr lang="en-IN" sz="1800" b="1" dirty="0"/>
              <a:t>Decision Tree Classifier:</a:t>
            </a:r>
            <a:r>
              <a:rPr lang="en-IN" sz="1800" dirty="0"/>
              <a:t>
Easy to understand, good for rule-based problems.
</a:t>
            </a:r>
            <a:r>
              <a:rPr lang="en-IN" sz="1800" b="1" dirty="0"/>
              <a:t>Random Forest Classifier:</a:t>
            </a:r>
            <a:r>
              <a:rPr lang="en-IN" sz="1800" dirty="0"/>
              <a:t>
High performance, robust to overfitting.
</a:t>
            </a:r>
            <a:r>
              <a:rPr lang="en-IN" sz="1800" b="1" dirty="0"/>
              <a:t>Gradient Boosting Classifiers:</a:t>
            </a:r>
            <a:r>
              <a:rPr lang="en-IN" sz="1800" dirty="0"/>
              <a:t>
High accuracy; handles class imbalance well.
</a:t>
            </a:r>
            <a:r>
              <a:rPr lang="en-IN" sz="1800" b="1" dirty="0"/>
              <a:t>Support Vector Machine (SVM):</a:t>
            </a:r>
          </a:p>
          <a:p>
            <a:pPr marL="0" indent="0">
              <a:buNone/>
            </a:pPr>
            <a:r>
              <a:rPr lang="en-IN" sz="1800" dirty="0"/>
              <a:t>Great for high-dimensional data and small to medium datasets.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2839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4A2E-D717-14EB-105F-0D6D29B47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ALGORITHM: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772BA-3359-FD1A-C051-D6608DCF2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5BC8-F2BF-84F9-2A01-3B488A9D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5325"/>
          </a:xfrm>
        </p:spPr>
        <p:txBody>
          <a:bodyPr/>
          <a:lstStyle/>
          <a:p>
            <a:r>
              <a:rPr lang="en-IN" dirty="0"/>
              <a:t>BENEFITS FOR PREDICTING: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57736-EA2C-C017-D715-3485C77A4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52107"/>
            <a:ext cx="10820400" cy="68808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1. Cost-Effective Analysis</a:t>
            </a:r>
            <a:r>
              <a:rPr lang="en-IN" sz="1800" dirty="0"/>
              <a:t>
No Infrastructure Needed: Google </a:t>
            </a:r>
            <a:r>
              <a:rPr lang="en-IN" sz="1800" dirty="0" err="1"/>
              <a:t>Colab</a:t>
            </a:r>
            <a:r>
              <a:rPr lang="en-IN" sz="1800" dirty="0"/>
              <a:t> is free and cloud-based, so you don’t need to invest in high-end hardware.
Access to GPUs/TPUs: You can leverage free or affordable acceleration for faster training.
</a:t>
            </a:r>
            <a:r>
              <a:rPr lang="en-IN" sz="1800" b="1" dirty="0"/>
              <a:t>2. Improved Energy Efficiency</a:t>
            </a:r>
            <a:r>
              <a:rPr lang="en-IN" sz="1800" dirty="0"/>
              <a:t>
Optimized Operation: Predicting energy usage allows you to adjust machine parameters to minimize power consumption.
Preventive Maintenance: Unexpected spikes or drops in energy use can indicate issues, leading to timely intervention.
</a:t>
            </a:r>
            <a:r>
              <a:rPr lang="en-IN" sz="1800" b="1" dirty="0"/>
              <a:t>3. Data-Driven Decision Making</a:t>
            </a:r>
            <a:r>
              <a:rPr lang="en-IN" sz="1800" dirty="0"/>
              <a:t>
Better Planning: Accurate predictions help plan production runs with energy efficiency in mind.
Performance Insights: Historical and real-time data analysis can uncover inefficiencies.
</a:t>
            </a: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4F3CF6-D1BE-AE7B-EE9B-08E089A52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81125"/>
            <a:ext cx="9601200" cy="1401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(FOR CNC MACHINE)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424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F6E1-1CC4-FD33-97DE-80918C00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3419"/>
          </a:xfrm>
        </p:spPr>
        <p:txBody>
          <a:bodyPr>
            <a:normAutofit fontScale="90000"/>
          </a:bodyPr>
          <a:lstStyle/>
          <a:p>
            <a:r>
              <a:rPr lang="en-IN" dirty="0"/>
              <a:t>BENEFITS FOR PREDICTING: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40EE2-D759-D0E2-375B-AC9D7990C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43126"/>
            <a:ext cx="9601200" cy="41171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/>
              <a:t>1.Early Fault Detection</a:t>
            </a:r>
            <a:r>
              <a:rPr lang="en-IN" sz="1900" dirty="0"/>
              <a:t>
Preventative Maintenance: Classifying faults early helps avoid unplanned downtime and costly repairs.
Increased Safety: Quick identification of issues prevents failures that could pose safety risks.
</a:t>
            </a:r>
            <a:r>
              <a:rPr lang="en-IN" sz="1900" b="1" dirty="0"/>
              <a:t>2. Cost Savings</a:t>
            </a:r>
            <a:r>
              <a:rPr lang="en-IN" sz="1900" dirty="0"/>
              <a:t>
Reduced Maintenance Costs: Only maintain components when needed instead of using fixed schedules.
Minimized Downtime: Automated fault detection shortens the time to diagnosis and repair.
</a:t>
            </a:r>
            <a:r>
              <a:rPr lang="en-IN" sz="1900" b="1" dirty="0"/>
              <a:t>3. Scalability and Flexibility</a:t>
            </a:r>
            <a:r>
              <a:rPr lang="en-IN" sz="1900" dirty="0"/>
              <a:t>
Easily Adaptable Models: You can update or retrain models as more data becomes available.
Multiple System Monitoring: </a:t>
            </a:r>
            <a:r>
              <a:rPr lang="en-IN" sz="1900" dirty="0" err="1"/>
              <a:t>Colab</a:t>
            </a:r>
            <a:r>
              <a:rPr lang="en-IN" sz="1900" dirty="0"/>
              <a:t> supports managing multiple data sources simultaneously.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60C87B-BADB-1750-E928-0B91618F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9219"/>
            <a:ext cx="9601200" cy="3810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(FOR PNEUMATIC SYSTEM)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67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C04FA5E-9397-403D-8733-45505DDB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1E99C-CFC4-7333-63AE-2B7FDF57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4167" y="212715"/>
            <a:ext cx="5607908" cy="147293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7000" cap="all"/>
              <a:t>Q&amp;A</a:t>
            </a:r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09E1F823-C239-4ACC-923A-5C958E00E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199584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817DDF7-06E9-4C7C-84DF-2240A6536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4" name="Picture 3" descr="Magnifying glass and question mark">
            <a:extLst>
              <a:ext uri="{FF2B5EF4-FFF2-40B4-BE49-F238E27FC236}">
                <a16:creationId xmlns:a16="http://schemas.microsoft.com/office/drawing/2014/main" id="{AC6BFBB4-CA75-69F6-B6BC-FFCF58187C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89" r="30156" b="-2"/>
          <a:stretch/>
        </p:blipFill>
        <p:spPr>
          <a:xfrm>
            <a:off x="1155560" y="1129353"/>
            <a:ext cx="3914583" cy="458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32243"/>
      </p:ext>
    </p:extLst>
  </p:cSld>
  <p:clrMapOvr>
    <a:masterClrMapping/>
  </p:clrMapOvr>
</p:sld>
</file>

<file path=ppt/theme/theme1.xml><?xml version="1.0" encoding="utf-8"?>
<a:theme xmlns:a="http://schemas.openxmlformats.org/drawingml/2006/main" name="TF10001025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TF10001025</vt:lpstr>
      <vt:lpstr>Energy Consumption Prediction in a cnc machine (regression)</vt:lpstr>
      <vt:lpstr>OUTPUT TO BE FOUND:</vt:lpstr>
      <vt:lpstr>DATASET</vt:lpstr>
      <vt:lpstr>REGRESSION ALGORITHM:</vt:lpstr>
      <vt:lpstr>CLASSIFICATION ALGORITHM:</vt:lpstr>
      <vt:lpstr>BEST ALGORITHM:</vt:lpstr>
      <vt:lpstr>BENEFITS FOR PREDICTING:</vt:lpstr>
      <vt:lpstr>BENEFITS FOR PREDICTING: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Consumption Prediction in a cnc machine (regression)</dc:title>
  <dc:creator>PUGAZHENDHI K</dc:creator>
  <cp:lastModifiedBy>PUGAZHENDHI K</cp:lastModifiedBy>
  <cp:revision>1</cp:revision>
  <dcterms:created xsi:type="dcterms:W3CDTF">2025-04-29T15:34:01Z</dcterms:created>
  <dcterms:modified xsi:type="dcterms:W3CDTF">2025-04-29T17:29:49Z</dcterms:modified>
</cp:coreProperties>
</file>